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6C4EE4-9B03-4CEB-B2B4-6108CB193BCC}">
  <a:tblStyle styleId="{C36C4EE4-9B03-4CEB-B2B4-6108CB193BC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0" Type="http://schemas.openxmlformats.org/officeDocument/2006/relationships/image" Target="../media/image10.png"/><Relationship Id="rId9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607040" y="822960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972800" y="1143000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338560" y="1463040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22960" y="1234440"/>
            <a:ext cx="868680" cy="86868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s_dark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145161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777240" y="233172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NAIFARE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324612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3A73E"/>
                </a:solidFill>
                <a:latin typeface="Calibri"/>
                <a:ea typeface="Calibri"/>
                <a:cs typeface="Calibri"/>
                <a:sym typeface="Calibri"/>
              </a:rPr>
              <a:t>Nairobi Matatu Fare &amp; Route Tracker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37947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0D3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C6D0D3"/>
                </a:solidFill>
                <a:latin typeface="Calibri"/>
                <a:ea typeface="Calibri"/>
                <a:cs typeface="Calibri"/>
                <a:sym typeface="Calibri"/>
              </a:rPr>
              <a:t>A data-driven tool for fare transparency in Kenya's matatu industry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822960" y="598932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E3A7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A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7AB"/>
                </a:solidFill>
                <a:latin typeface="Calibri"/>
                <a:ea typeface="Calibri"/>
                <a:cs typeface="Calibri"/>
                <a:sym typeface="Calibri"/>
              </a:rPr>
              <a:t>CAPSTONE PROJECT  ·  MODULE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WHY NAIFARE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Fares shift daily. Nobody tracks them.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ED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ing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" y="19088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298448" y="1783080"/>
            <a:ext cx="45537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251460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Fares fluctuate daily based on weather, demand, and route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No centralised source of truth for fare information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Passengers overcharged, especially in bad weather or political unrest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Manual tracking is impractical across 350+ routes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309360" y="1783080"/>
            <a:ext cx="5257800" cy="3840480"/>
          </a:xfrm>
          <a:prstGeom prst="roundRect">
            <a:avLst>
              <a:gd fmla="val 1905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629400" y="2103120"/>
            <a:ext cx="502920" cy="50292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lb.png"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5130" y="22288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7287768" y="210312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629400" y="2834640"/>
            <a:ext cx="461772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NaiFare scrapes live data from multiple sources, stores it in a structured database, and provides a web UI to browse, search, and track fare history with weather and political context.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" y="1600200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ap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868680" y="2377440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Route Browser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68680" y="2697480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 local and long-distance routes across SACCOs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431972" y="1600200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660572" y="1828800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history.png"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4872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3660572" y="2377440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Fare History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660572" y="2697480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Track fare changes over time </a:t>
            </a:r>
            <a:r>
              <a:rPr lang="en-US" sz="1000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depending on</a:t>
            </a: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 weather conditions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223864" y="1600200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452464" y="1828800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ud_rain.png" id="63" name="Google Shape;6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6764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6452464" y="2377440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Weather Alerts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52464" y="2697480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Live weather + fare surge warnings on rainy days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015755" y="1600200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244355" y="1828800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newspaper.png" id="68" name="Google Shape;6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8655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9244355" y="2377440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Political Advisory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244355" y="2697480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News analysis for travel safety and fare hike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40080" y="3547872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arch.png" id="73" name="Google Shape;7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2980" y="3890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868680" y="4325112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Search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68680" y="4645152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By route number, location, or SACCO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431972" y="3547872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660572" y="3776472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.png" id="78" name="Google Shape;7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4872" y="3890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3660572" y="4325112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Full CRUD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660572" y="4645152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Create, read, update, delete routes, fares, and SACCOs for admin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223864" y="3547872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452464" y="3776472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xport.png" id="83" name="Google Shape;8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6764" y="3890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6452464" y="4325112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Export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52464" y="4645152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CSV export for offline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015755" y="3547872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9244355" y="3776472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esktop.png" id="88" name="Google Shape;88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58655" y="3890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9244355" y="4325112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User </a:t>
            </a:r>
            <a:r>
              <a:rPr b="1" i="0" lang="en-US" sz="13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244355" y="4645152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mobile-responsive Streamlit web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WHERE THE DATA COMES FROM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Three Live Web Scrapers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40080" y="1600200"/>
            <a:ext cx="3423818" cy="3794760"/>
          </a:xfrm>
          <a:prstGeom prst="roundRect">
            <a:avLst>
              <a:gd fmla="val 2137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arker.png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057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914400" y="2651760"/>
            <a:ext cx="2875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Nairobi Postal Code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14400" y="3383280"/>
            <a:ext cx="287517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97 local matatu routes (A-Z lines)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Route numbers, destinations, fare bands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383938" y="1600200"/>
            <a:ext cx="3423818" cy="3794760"/>
          </a:xfrm>
          <a:prstGeom prst="roundRect">
            <a:avLst>
              <a:gd fmla="val 2137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658258" y="1920240"/>
            <a:ext cx="548640" cy="54864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ute.png" id="107" name="Google Shape;1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5418" y="2057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4658258" y="2651760"/>
            <a:ext cx="2875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Situations.co.ke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658258" y="3383280"/>
            <a:ext cx="287517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258 long-distance routes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Nairobi to Mombasa, Kisumu, Nakuru, Nyeri, Kitale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SACCO operator names and fares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127797" y="1600200"/>
            <a:ext cx="3423818" cy="3794760"/>
          </a:xfrm>
          <a:prstGeom prst="roundRect">
            <a:avLst>
              <a:gd fmla="val 2137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402117" y="1920240"/>
            <a:ext cx="548640" cy="54864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.png" id="112" name="Google Shape;1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9277" y="2057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8402117" y="2651760"/>
            <a:ext cx="2875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Elimu Centre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402117" y="3383280"/>
            <a:ext cx="287517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79 registered SACCOs operating in/from Nairobi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Comprehensive operator list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UNDER THE HOOD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40080" y="2359153"/>
            <a:ext cx="5943600" cy="603600"/>
          </a:xfrm>
          <a:prstGeom prst="roundRect">
            <a:avLst>
              <a:gd fmla="val 7576" name="adj"/>
            </a:avLst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40080" y="2404865"/>
            <a:ext cx="5943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 Web UI  (mobile-ready)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40080" y="3118104"/>
            <a:ext cx="5943600" cy="603504"/>
          </a:xfrm>
          <a:prstGeom prst="roundRect">
            <a:avLst>
              <a:gd fmla="val 7576" name="adj"/>
            </a:avLst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40080" y="3118104"/>
            <a:ext cx="5943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seed_data.py  ·  orchestrator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40080" y="3831336"/>
            <a:ext cx="5943600" cy="603504"/>
          </a:xfrm>
          <a:prstGeom prst="roundRect">
            <a:avLst>
              <a:gd fmla="val 7576" name="adj"/>
            </a:avLst>
          </a:prstGeom>
          <a:solidFill>
            <a:srgbClr val="274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40080" y="3831336"/>
            <a:ext cx="5943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scraper.py  ·  weather_api.py  ·  political_api.py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40080" y="4544568"/>
            <a:ext cx="5943600" cy="603504"/>
          </a:xfrm>
          <a:prstGeom prst="roundRect">
            <a:avLst>
              <a:gd fmla="val 7576" name="adj"/>
            </a:avLst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0080" y="4544568"/>
            <a:ext cx="5943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database.py  (SQLite)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949477" y="4846291"/>
            <a:ext cx="82200" cy="82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145572" y="2145948"/>
            <a:ext cx="431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Python  </a:t>
            </a: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— Core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949440" y="2240280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7145572" y="2676300"/>
            <a:ext cx="431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SQLite  </a:t>
            </a: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— Lightweight embedded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949440" y="2770632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145572" y="3206652"/>
            <a:ext cx="431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Streamlit  </a:t>
            </a: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— Responsive web UI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949440" y="3300984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7145572" y="3737004"/>
            <a:ext cx="431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requests + re + xml  </a:t>
            </a: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— Web scraping &amp; RSS parsing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949440" y="3831336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7145572" y="4267356"/>
            <a:ext cx="431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OpenWeatherMap API  </a:t>
            </a: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— Live weather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949440" y="4361688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7145572" y="4797708"/>
            <a:ext cx="431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Google News RSS  </a:t>
            </a: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— Political climate — no API key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DATA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Database Schema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40080" y="1554480"/>
            <a:ext cx="3423818" cy="2788920"/>
          </a:xfrm>
          <a:prstGeom prst="roundRect">
            <a:avLst>
              <a:gd fmla="val 2623" name="adj"/>
            </a:avLst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96112" y="1737360"/>
            <a:ext cx="291175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E3A73E"/>
                </a:solidFill>
                <a:latin typeface="Courier New"/>
                <a:ea typeface="Courier New"/>
                <a:cs typeface="Courier New"/>
                <a:sym typeface="Courier New"/>
              </a:rPr>
              <a:t>saccos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96112" y="2240280"/>
            <a:ext cx="291175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383938" y="1554480"/>
            <a:ext cx="3423818" cy="2788920"/>
          </a:xfrm>
          <a:prstGeom prst="roundRect">
            <a:avLst>
              <a:gd fmla="val 2623" name="adj"/>
            </a:avLst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639970" y="1737360"/>
            <a:ext cx="291175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E3A73E"/>
                </a:solidFill>
                <a:latin typeface="Courier New"/>
                <a:ea typeface="Courier New"/>
                <a:cs typeface="Courier New"/>
                <a:sym typeface="Courier New"/>
              </a:rPr>
              <a:t>routes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639970" y="2240280"/>
            <a:ext cx="291175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route_number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start_point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end_point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sacco_id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fare_min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fare_max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route_type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127797" y="1554480"/>
            <a:ext cx="3423818" cy="2788920"/>
          </a:xfrm>
          <a:prstGeom prst="roundRect">
            <a:avLst>
              <a:gd fmla="val 2623" name="adj"/>
            </a:avLst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383829" y="1737360"/>
            <a:ext cx="291175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E3A73E"/>
                </a:solidFill>
                <a:latin typeface="Courier New"/>
                <a:ea typeface="Courier New"/>
                <a:cs typeface="Courier New"/>
                <a:sym typeface="Courier New"/>
              </a:rPr>
              <a:t>fares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383829" y="2240280"/>
            <a:ext cx="291175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route_id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7DEE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weather_condition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40080" y="4617720"/>
            <a:ext cx="1091153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route_type distinguishes local (Nairobi area) from long_distance (inter-county)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weather_condition stored with every fare record — 22 unique conditions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Foreign keys maintain referential integrity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Cascade delete: deleting a SACCO removes its routes and fares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INSIGHT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Weather-Fare Correlation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40080" y="12618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Bad weather drives fare hikes — the data proves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0080" y="1737360"/>
            <a:ext cx="10911535" cy="713232"/>
          </a:xfrm>
          <a:prstGeom prst="roundRect">
            <a:avLst>
              <a:gd fmla="val 7692" name="adj"/>
            </a:avLst>
          </a:prstGeom>
          <a:solidFill>
            <a:srgbClr val="ED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40080" y="1737360"/>
            <a:ext cx="1371600" cy="713232"/>
          </a:xfrm>
          <a:prstGeom prst="roundRect">
            <a:avLst>
              <a:gd fmla="val 7692" name="adj"/>
            </a:avLst>
          </a:prstGeom>
          <a:solidFill>
            <a:srgbClr val="E3A73E">
              <a:alpha val="5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841248" y="191109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un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199339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2240280" y="181051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Minimum fare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160520" y="1792224"/>
            <a:ext cx="7315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Cloudy, Fair, Hazy, Overcast, Misty, Breezy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Normal conditions, normal price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0080" y="2706626"/>
            <a:ext cx="10911600" cy="713100"/>
          </a:xfrm>
          <a:prstGeom prst="roundRect">
            <a:avLst>
              <a:gd fmla="val 7692" name="adj"/>
            </a:avLst>
          </a:prstGeom>
          <a:solidFill>
            <a:srgbClr val="ED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640080" y="2706626"/>
            <a:ext cx="1371600" cy="713100"/>
          </a:xfrm>
          <a:prstGeom prst="roundRect">
            <a:avLst>
              <a:gd fmla="val 7692" name="adj"/>
            </a:avLst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841248" y="2880362"/>
            <a:ext cx="365700" cy="365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lt.png" id="182" name="Google Shape;1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544" y="296265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2240280" y="2779778"/>
            <a:ext cx="1828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Maximum fare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160520" y="2761490"/>
            <a:ext cx="7315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Rainy, Thunderstorm, Heavy Rain, Stormy, Downpour, Hail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Bad weather = fare hike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0080" y="3493010"/>
            <a:ext cx="1088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22 distinct weather conditions across 1,420 fare records. Weather tagging defaults to on when recording new fares.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40080" y="3904490"/>
            <a:ext cx="10911600" cy="640200"/>
          </a:xfrm>
          <a:prstGeom prst="roundRect">
            <a:avLst>
              <a:gd fmla="val 10000" name="adj"/>
            </a:avLst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914400" y="3904490"/>
            <a:ext cx="1036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3A73E"/>
                </a:solidFill>
                <a:latin typeface="Calibri"/>
                <a:ea typeface="Calibri"/>
                <a:cs typeface="Calibri"/>
                <a:sym typeface="Calibri"/>
              </a:rPr>
              <a:t>RAIN ALERT   </a:t>
            </a: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Fares may spike today. Plan ahead and carry extra fare.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NEW FEATURE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Political Climate Advisory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40080" y="12618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Analyses news headlines for political stability.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40080" y="178308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40080" y="2148840"/>
            <a:ext cx="329184" cy="329184"/>
          </a:xfrm>
          <a:prstGeom prst="ellipse">
            <a:avLst/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640080" y="21488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3A73E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143000" y="2093976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Fetches recent Kenya headlines from Google News RSS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40080" y="2862072"/>
            <a:ext cx="329184" cy="329184"/>
          </a:xfrm>
          <a:prstGeom prst="ellipse">
            <a:avLst/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40080" y="28620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3A73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143000" y="2807208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Scans for unrest keywords: protest, strike, riot, violence, curfew, etc.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40080" y="3575304"/>
            <a:ext cx="329184" cy="329184"/>
          </a:xfrm>
          <a:prstGeom prst="ellipse">
            <a:avLst/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640080" y="35753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3A73E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143000" y="3520440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Classifies into Stable / Uncertain / Unstable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40080" y="4288536"/>
            <a:ext cx="329184" cy="329184"/>
          </a:xfrm>
          <a:prstGeom prst="ellipse">
            <a:avLst/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40080" y="428853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3A73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143000" y="4233672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Generates travel safety recommendation and fare outlook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537960" y="1783080"/>
            <a:ext cx="5029200" cy="2834640"/>
          </a:xfrm>
          <a:prstGeom prst="roundRect">
            <a:avLst>
              <a:gd fmla="val 2581" name="adj"/>
            </a:avLst>
          </a:prstGeom>
          <a:solidFill>
            <a:srgbClr val="1C2B33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766560" y="1993392"/>
            <a:ext cx="128016" cy="128016"/>
          </a:xfrm>
          <a:prstGeom prst="ellipse">
            <a:avLst/>
          </a:prstGeom>
          <a:solidFill>
            <a:srgbClr val="E36B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967728" y="1993392"/>
            <a:ext cx="128016" cy="12801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7168896" y="1993392"/>
            <a:ext cx="128016" cy="128016"/>
          </a:xfrm>
          <a:prstGeom prst="ellipse">
            <a:avLst/>
          </a:prstGeom>
          <a:solidFill>
            <a:srgbClr val="6FB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858000" y="2331720"/>
            <a:ext cx="43891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6D0D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3"/>
                </a:solidFill>
                <a:latin typeface="Courier New"/>
                <a:ea typeface="Courier New"/>
                <a:cs typeface="Courier New"/>
                <a:sym typeface="Courier New"/>
              </a:rPr>
              <a:t>Status: </a:t>
            </a:r>
            <a:r>
              <a:rPr b="1" i="0" lang="en-US" sz="1250" u="none" cap="none" strike="noStrike">
                <a:solidFill>
                  <a:srgbClr val="E36B5A"/>
                </a:solidFill>
                <a:latin typeface="Courier New"/>
                <a:ea typeface="Courier New"/>
                <a:cs typeface="Courier New"/>
                <a:sym typeface="Courier New"/>
              </a:rPr>
              <a:t>UNSTABLE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E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Political unrest detected.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E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Travel may be affected.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E3A73E"/>
                </a:solidFill>
                <a:latin typeface="Courier New"/>
                <a:ea typeface="Courier New"/>
                <a:cs typeface="Courier New"/>
                <a:sym typeface="Courier New"/>
              </a:rPr>
              <a:t>Travel Safety: </a:t>
            </a:r>
            <a:r>
              <a:rPr b="0" i="0" lang="en-US" sz="12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Avoid non-essential travel.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E3A73E"/>
                </a:solidFill>
                <a:latin typeface="Courier New"/>
                <a:ea typeface="Courier New"/>
                <a:cs typeface="Courier New"/>
                <a:sym typeface="Courier New"/>
              </a:rPr>
              <a:t>Fare Outlook: </a:t>
            </a:r>
            <a:r>
              <a:rPr b="0" i="0" lang="en-US" sz="1250" u="none" cap="none" strike="noStrike">
                <a:solidFill>
                  <a:srgbClr val="D7DEE0"/>
                </a:solidFill>
                <a:latin typeface="Courier New"/>
                <a:ea typeface="Courier New"/>
                <a:cs typeface="Courier New"/>
                <a:sym typeface="Courier New"/>
              </a:rPr>
              <a:t>High probability of fare hikes.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640080" y="4572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DATA MANAGEMENT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40080" y="77724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Full CRUD</a:t>
            </a:r>
            <a:r>
              <a:rPr b="1" lang="en-US" sz="28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 Operations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40080" y="128016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Complete data management across all entities.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11"/>
          <p:cNvGraphicFramePr/>
          <p:nvPr/>
        </p:nvGraphicFramePr>
        <p:xfrm>
          <a:off x="64008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{C36C4EE4-9B03-4CEB-B2B4-6108CB193BCC}</a:tableStyleId>
              </a:tblPr>
              <a:tblGrid>
                <a:gridCol w="1371600"/>
                <a:gridCol w="2377450"/>
                <a:gridCol w="2194550"/>
                <a:gridCol w="2651750"/>
                <a:gridCol w="2286000"/>
              </a:tblGrid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Entity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Create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Read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Update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Delete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3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2B33"/>
                          </a:solidFill>
                        </a:rPr>
                        <a:t>Route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Add New Route form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View / Search pages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Inline edit on details page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Delete button with confirmation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2B33"/>
                          </a:solidFill>
                        </a:rPr>
                        <a:t>Fare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Add Fare form (weather defaults on)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Fare history table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Edit amount / weather inline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Delete by date selection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1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2B33"/>
                          </a:solidFill>
                        </a:rPr>
                        <a:t>SACCO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Add SACCO form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View all SACCOs tab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Edit name / code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7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770"/>
                          </a:solidFill>
                        </a:rPr>
                        <a:t>Delete with cascade</a:t>
                      </a:r>
                      <a:endParaRPr sz="11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11"/>
          <p:cNvSpPr/>
          <p:nvPr/>
        </p:nvSpPr>
        <p:spPr>
          <a:xfrm>
            <a:off x="457200" y="647395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1277295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Scraping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005840" y="1783080"/>
            <a:ext cx="594360" cy="594360"/>
          </a:xfrm>
          <a:prstGeom prst="ellipse">
            <a:avLst/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use_white.png" id="237" name="Google Shape;2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430" y="1931670"/>
            <a:ext cx="297180" cy="2971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12"/>
          <p:cNvCxnSpPr/>
          <p:nvPr/>
        </p:nvCxnSpPr>
        <p:spPr>
          <a:xfrm>
            <a:off x="1303020" y="237744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DEE3E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9" name="Google Shape;239;p12"/>
          <p:cNvSpPr/>
          <p:nvPr/>
        </p:nvSpPr>
        <p:spPr>
          <a:xfrm>
            <a:off x="1965960" y="172821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Admin</a:t>
            </a:r>
            <a:r>
              <a:rPr b="1" i="0" lang="en-US" sz="15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 clicks “Scrape &amp; Seed”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1965960" y="2075688"/>
            <a:ext cx="8869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B6770"/>
                </a:solidFill>
                <a:latin typeface="Courier New"/>
                <a:ea typeface="Courier New"/>
                <a:cs typeface="Courier New"/>
                <a:sym typeface="Courier New"/>
              </a:rPr>
              <a:t>Triggers seed_data.seed_database()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1005840" y="2651760"/>
            <a:ext cx="594360" cy="594360"/>
          </a:xfrm>
          <a:prstGeom prst="ellipse">
            <a:avLst/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ute_white.png" id="242" name="Google Shape;2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4430" y="2800350"/>
            <a:ext cx="297180" cy="2971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12"/>
          <p:cNvCxnSpPr/>
          <p:nvPr/>
        </p:nvCxnSpPr>
        <p:spPr>
          <a:xfrm>
            <a:off x="1303020" y="324612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DEE3E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4" name="Google Shape;244;p12"/>
          <p:cNvSpPr/>
          <p:nvPr/>
        </p:nvSpPr>
        <p:spPr>
          <a:xfrm>
            <a:off x="1965960" y="259689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Scrape local &amp; long-distance routes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965960" y="2944368"/>
            <a:ext cx="8869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B6770"/>
                </a:solidFill>
                <a:latin typeface="Courier New"/>
                <a:ea typeface="Courier New"/>
                <a:cs typeface="Courier New"/>
                <a:sym typeface="Courier New"/>
              </a:rPr>
              <a:t>nairobipostalcode.org and situations.co.ke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1005840" y="3520440"/>
            <a:ext cx="594360" cy="594360"/>
          </a:xfrm>
          <a:prstGeom prst="ellipse">
            <a:avLst/>
          </a:prstGeom>
          <a:solidFill>
            <a:srgbClr val="ED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.png" id="247" name="Google Shape;24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4430" y="3669030"/>
            <a:ext cx="297180" cy="2971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12"/>
          <p:cNvCxnSpPr/>
          <p:nvPr/>
        </p:nvCxnSpPr>
        <p:spPr>
          <a:xfrm>
            <a:off x="1303020" y="411480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DEE3E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9" name="Google Shape;249;p12"/>
          <p:cNvSpPr/>
          <p:nvPr/>
        </p:nvSpPr>
        <p:spPr>
          <a:xfrm>
            <a:off x="1965960" y="346557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Scrape extended SACCO 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1965960" y="3813048"/>
            <a:ext cx="8869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B6770"/>
                </a:solidFill>
                <a:latin typeface="Courier New"/>
                <a:ea typeface="Courier New"/>
                <a:cs typeface="Courier New"/>
                <a:sym typeface="Courier New"/>
              </a:rPr>
              <a:t>elimucentre.com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005840" y="4389120"/>
            <a:ext cx="594360" cy="594360"/>
          </a:xfrm>
          <a:prstGeom prst="ellipse">
            <a:avLst/>
          </a:prstGeom>
          <a:solidFill>
            <a:srgbClr val="1C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white.png" id="252" name="Google Shape;25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4430" y="453771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2"/>
          <p:cNvSpPr/>
          <p:nvPr/>
        </p:nvSpPr>
        <p:spPr>
          <a:xfrm>
            <a:off x="1965960" y="43342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Insert with weather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1965960" y="4681728"/>
            <a:ext cx="8869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B6770"/>
                </a:solidFill>
                <a:latin typeface="Courier New"/>
                <a:ea typeface="Courier New"/>
                <a:cs typeface="Courier New"/>
                <a:sym typeface="Courier New"/>
              </a:rPr>
              <a:t>22 conditions assigned by fare level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User Interface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640078" y="1532843"/>
            <a:ext cx="5272800" cy="4297800"/>
          </a:xfrm>
          <a:prstGeom prst="roundRect">
            <a:avLst>
              <a:gd fmla="val 1702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960118" y="1852883"/>
            <a:ext cx="548700" cy="5487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lobe.png"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78" y="199004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1645918" y="1852883"/>
            <a:ext cx="399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Streamlit Web App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960118" y="2584403"/>
            <a:ext cx="463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B9822A"/>
                </a:solidFill>
                <a:latin typeface="Courier New"/>
                <a:ea typeface="Courier New"/>
                <a:cs typeface="Courier New"/>
                <a:sym typeface="Courier New"/>
              </a:rPr>
              <a:t>streamlit run streamlit_app.py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960118" y="3133043"/>
            <a:ext cx="46329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11-page sidebar navigation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Route type radio filter on browse/search pages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Mobile-responsive layout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Inline editing and deletion with confirmation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B677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Manage SACCOs with 3 tabs · political climate one-click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Kenyan Town Validation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Weather and political features are restricted to Kenyan towns only.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640080" y="1874520"/>
            <a:ext cx="4480560" cy="960120"/>
          </a:xfrm>
          <a:prstGeom prst="roundRect">
            <a:avLst>
              <a:gd fmla="val 6667" name="adj"/>
            </a:avLst>
          </a:prstGeom>
          <a:solidFill>
            <a:srgbClr val="ED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841248" y="2075688"/>
            <a:ext cx="548640" cy="54864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.png"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22128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/>
          <p:nvPr/>
        </p:nvSpPr>
        <p:spPr>
          <a:xfrm>
            <a:off x="1536192" y="187452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90+ recognised towns and cities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640080" y="3017520"/>
            <a:ext cx="4480560" cy="960120"/>
          </a:xfrm>
          <a:prstGeom prst="roundRect">
            <a:avLst>
              <a:gd fmla="val 6667" name="adj"/>
            </a:avLst>
          </a:prstGeom>
          <a:solidFill>
            <a:srgbClr val="ED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841248" y="3218688"/>
            <a:ext cx="548640" cy="54864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.png" id="285" name="Google Shape;2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408" y="33558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4"/>
          <p:cNvSpPr/>
          <p:nvPr/>
        </p:nvSpPr>
        <p:spPr>
          <a:xfrm>
            <a:off x="1536192" y="301752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Case-insensitive matching with whitespace trimming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40080" y="4160520"/>
            <a:ext cx="4480560" cy="960120"/>
          </a:xfrm>
          <a:prstGeom prst="roundRect">
            <a:avLst>
              <a:gd fmla="val 6667" name="adj"/>
            </a:avLst>
          </a:prstGeom>
          <a:solidFill>
            <a:srgbClr val="ED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841248" y="4361688"/>
            <a:ext cx="548640" cy="54864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ing.png" id="289" name="Google Shape;28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8408" y="44988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1536192" y="416052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2B33"/>
                </a:solidFill>
                <a:latin typeface="Calibri"/>
                <a:ea typeface="Calibri"/>
                <a:cs typeface="Calibri"/>
                <a:sym typeface="Calibri"/>
              </a:rPr>
              <a:t>Helpful error showing valid towns on mismatch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5394960" y="1874520"/>
            <a:ext cx="6172200" cy="3429000"/>
          </a:xfrm>
          <a:prstGeom prst="roundRect">
            <a:avLst>
              <a:gd fmla="val 2133" name="adj"/>
            </a:avLst>
          </a:prstGeom>
          <a:solidFill>
            <a:srgbClr val="1C2B33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5623560" y="2084832"/>
            <a:ext cx="128016" cy="128016"/>
          </a:xfrm>
          <a:prstGeom prst="ellipse">
            <a:avLst/>
          </a:prstGeom>
          <a:solidFill>
            <a:srgbClr val="E36B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5824728" y="2084832"/>
            <a:ext cx="128016" cy="12801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6025896" y="2084832"/>
            <a:ext cx="128016" cy="128016"/>
          </a:xfrm>
          <a:prstGeom prst="ellipse">
            <a:avLst/>
          </a:prstGeom>
          <a:solidFill>
            <a:srgbClr val="6FB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5715000" y="2423160"/>
            <a:ext cx="5532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1200"/>
              <a:buFont typeface="Courier New"/>
              <a:buNone/>
            </a:pPr>
            <a:r>
              <a:rPr b="0" i="1" lang="en-US" sz="1200" u="none" cap="none" strike="noStrike">
                <a:solidFill>
                  <a:srgbClr val="8A959B"/>
                </a:solidFill>
                <a:latin typeface="Courier New"/>
                <a:ea typeface="Courier New"/>
                <a:cs typeface="Courier New"/>
                <a:sym typeface="Courier New"/>
              </a:rPr>
              <a:t># Example valid entries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715000" y="2788920"/>
            <a:ext cx="5532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3A73E"/>
                </a:solidFill>
                <a:latin typeface="Courier New"/>
                <a:ea typeface="Courier New"/>
                <a:cs typeface="Courier New"/>
                <a:sym typeface="Courier New"/>
              </a:rPr>
              <a:t>Nairobi, Mombasa, Kisumu, Nakuru, Eldoret,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3A73E"/>
                </a:solidFill>
                <a:latin typeface="Courier New"/>
                <a:ea typeface="Courier New"/>
                <a:cs typeface="Courier New"/>
                <a:sym typeface="Courier New"/>
              </a:rPr>
              <a:t>Thika, Malindi, Nyeri, Meru, Kisii, Kakamega,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3A73E"/>
                </a:solidFill>
                <a:latin typeface="Courier New"/>
                <a:ea typeface="Courier New"/>
                <a:cs typeface="Courier New"/>
                <a:sym typeface="Courier New"/>
              </a:rPr>
              <a:t>Kitale, Garissa, Lamu, Kilifi, Naivasha, Narok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4"/>
          <p:cNvCxnSpPr/>
          <p:nvPr/>
        </p:nvCxnSpPr>
        <p:spPr>
          <a:xfrm>
            <a:off x="5715000" y="4343400"/>
            <a:ext cx="5532120" cy="0"/>
          </a:xfrm>
          <a:prstGeom prst="straightConnector1">
            <a:avLst/>
          </a:prstGeom>
          <a:noFill/>
          <a:ln cap="flat" cmpd="sng" w="12700">
            <a:solidFill>
              <a:srgbClr val="3447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4"/>
          <p:cNvSpPr/>
          <p:nvPr/>
        </p:nvSpPr>
        <p:spPr>
          <a:xfrm>
            <a:off x="5715000" y="4480560"/>
            <a:ext cx="5532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1150"/>
              <a:buFont typeface="Courier New"/>
              <a:buNone/>
            </a:pPr>
            <a:r>
              <a:rPr b="0" i="1" lang="en-US" sz="1150" u="none" cap="none" strike="noStrike">
                <a:solidFill>
                  <a:srgbClr val="8A959B"/>
                </a:solidFill>
                <a:latin typeface="Courier New"/>
                <a:ea typeface="Courier New"/>
                <a:cs typeface="Courier New"/>
                <a:sym typeface="Courier New"/>
              </a:rPr>
              <a:t>...and 70+ more recognised towns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2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Future Enhancements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640080" y="1600200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oadcast.png" id="310" name="Google Shape;3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5"/>
          <p:cNvSpPr/>
          <p:nvPr/>
        </p:nvSpPr>
        <p:spPr>
          <a:xfrm>
            <a:off x="868680" y="2377440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Real-time reporting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868680" y="2697480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Crowd-sourced fare updates from users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3431972" y="1600200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3660572" y="1828800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ap.png" id="315" name="Google Shape;3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4872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>
            <a:off x="3660572" y="2377440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Route maps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3660572" y="2697480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Visual mapping with Leaflet or Mapbox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6223864" y="1600200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6452464" y="1828800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.png" id="320" name="Google Shape;3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6764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/>
          <p:nvPr/>
        </p:nvSpPr>
        <p:spPr>
          <a:xfrm>
            <a:off x="6452464" y="2377440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Fare predictions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6452464" y="2697480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ML model using weather + political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9015755" y="1600200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9244355" y="1828800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ity.png" id="325" name="Google Shape;3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8655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5"/>
          <p:cNvSpPr/>
          <p:nvPr/>
        </p:nvSpPr>
        <p:spPr>
          <a:xfrm>
            <a:off x="9244355" y="2377440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Multi-city support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9244355" y="2697480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Extend to Mombasa, Kisumu, Nakuru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640080" y="3547872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plug.png" id="330" name="Google Shape;3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2980" y="3890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5"/>
          <p:cNvSpPr/>
          <p:nvPr/>
        </p:nvSpPr>
        <p:spPr>
          <a:xfrm>
            <a:off x="868680" y="4325112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REST API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868680" y="4645152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For third-party integrations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3431972" y="3547872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3660572" y="3776472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line.png" id="335" name="Google Shape;3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4872" y="3890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5"/>
          <p:cNvSpPr/>
          <p:nvPr/>
        </p:nvSpPr>
        <p:spPr>
          <a:xfrm>
            <a:off x="3660572" y="4325112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Historical 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3660572" y="4645152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Charts and trends over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6223864" y="3547872"/>
            <a:ext cx="2535860" cy="1691640"/>
          </a:xfrm>
          <a:prstGeom prst="roundRect">
            <a:avLst>
              <a:gd fmla="val 3784" name="adj"/>
            </a:avLst>
          </a:prstGeom>
          <a:solidFill>
            <a:srgbClr val="EDF1F1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6452464" y="3776472"/>
            <a:ext cx="457200" cy="45720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llhorn.png" id="340" name="Google Shape;34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6764" y="3890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/>
          <p:nvPr/>
        </p:nvSpPr>
        <p:spPr>
          <a:xfrm>
            <a:off x="6452464" y="4325112"/>
            <a:ext cx="20786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rPr>
              <a:t>Push notifications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6452464" y="4645152"/>
            <a:ext cx="2078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Fare hike alerts via SMS or mobile app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NaiFare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59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3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"/>
          <p:cNvSpPr/>
          <p:nvPr/>
        </p:nvSpPr>
        <p:spPr>
          <a:xfrm>
            <a:off x="10607040" y="822960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10972800" y="1143000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11338560" y="1463040"/>
            <a:ext cx="82296" cy="82296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822960" y="1188720"/>
            <a:ext cx="868680" cy="868680"/>
          </a:xfrm>
          <a:prstGeom prst="ellipse">
            <a:avLst/>
          </a:prstGeom>
          <a:solidFill>
            <a:srgbClr val="E3A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s_dark.png" id="354" name="Google Shape;3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14058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6"/>
          <p:cNvSpPr/>
          <p:nvPr/>
        </p:nvSpPr>
        <p:spPr>
          <a:xfrm>
            <a:off x="777240" y="228600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822960" y="30632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A73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3A73E"/>
                </a:solidFill>
                <a:latin typeface="Calibri"/>
                <a:ea typeface="Calibri"/>
                <a:cs typeface="Calibri"/>
                <a:sym typeface="Calibri"/>
              </a:rPr>
              <a:t>NaiFare — Nairobi Matatu Fare &amp; Route Tracker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16"/>
          <p:cNvCxnSpPr/>
          <p:nvPr/>
        </p:nvCxnSpPr>
        <p:spPr>
          <a:xfrm>
            <a:off x="822960" y="374904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E3A7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6"/>
          <p:cNvSpPr/>
          <p:nvPr/>
        </p:nvSpPr>
        <p:spPr>
          <a:xfrm>
            <a:off x="822960" y="40233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A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AA7AB"/>
                </a:solidFill>
                <a:latin typeface="Calibri"/>
                <a:ea typeface="Calibri"/>
                <a:cs typeface="Calibri"/>
                <a:sym typeface="Calibri"/>
              </a:rPr>
              <a:t>“Fare transparency matters. Stay informed.”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822960" y="58521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Any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